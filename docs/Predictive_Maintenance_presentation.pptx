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52454DA-D048-5086-31F0-38BF505152DB}">
          <p14:sldIdLst>
            <p14:sldId id="256"/>
            <p14:sldId id="257"/>
          </p14:sldIdLst>
        </p14:section>
        <p14:section name="Data" id="{944592AD-521E-67C6-F41F-F07BE8E09049}">
          <p14:sldIdLst>
            <p14:sldId id="258"/>
            <p14:sldId id="259"/>
          </p14:sldIdLst>
        </p14:section>
        <p14:section name="Method" id="{9A0AA8DA-C67B-838D-EDDC-0F0E00AEE6B5}">
          <p14:sldIdLst>
            <p14:sldId id="260"/>
            <p14:sldId id="261"/>
            <p14:sldId id="262"/>
          </p14:sldIdLst>
        </p14:section>
        <p14:section name="Results" id="{538C6861-0151-C476-772F-7587502BD4CB}">
          <p14:sldIdLst>
            <p14:sldId id="263"/>
            <p14:sldId id="264"/>
            <p14:sldId id="265"/>
          </p14:sldIdLst>
        </p14:section>
        <p14:section name="Explainability" id="{2D53525C-68C7-3E7A-4910-90456614B59C}">
          <p14:sldIdLst>
            <p14:sldId id="266"/>
          </p14:sldIdLst>
        </p14:section>
        <p14:section name="Drift" id="{0618EFF4-D120-F9D5-0D5D-21BBCF95ECD3}">
          <p14:sldIdLst>
            <p14:sldId id="267"/>
          </p14:sldIdLst>
        </p14:section>
        <p14:section name="Conclusion" id="{82E994E4-7907-4FE5-2CBC-F05456AFD73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750" autoAdjust="0"/>
  </p:normalViewPr>
  <p:slideViewPr>
    <p:cSldViewPr snapToGrid="0" snapToObjects="1">
      <p:cViewPr varScale="1">
        <p:scale>
          <a:sx n="106" d="100"/>
          <a:sy n="106" d="100"/>
        </p:scale>
        <p:origin x="12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A1A1A"/>
                </a:solidFill>
                <a:latin typeface="+mn-lt"/>
              </a:rPr>
              <a:t>Overall score (PR-AUC, 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Held-out engines</c:v>
                </c:pt>
              </c:strCache>
            </c:strRef>
          </c:tx>
          <c:spPr>
            <a:solidFill>
              <a:srgbClr val="2F6B4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Age rule</c:v>
                </c:pt>
                <c:pt idx="1">
                  <c:v>Sensor rule</c:v>
                </c:pt>
                <c:pt idx="2">
                  <c:v>Logistic Reg.</c:v>
                </c:pt>
                <c:pt idx="3">
                  <c:v>Random 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</c:v>
                </c:pt>
                <c:pt idx="1">
                  <c:v>0.88</c:v>
                </c:pt>
                <c:pt idx="2">
                  <c:v>0.95</c:v>
                </c:pt>
                <c:pt idx="3">
                  <c:v>0.94</c:v>
                </c:pt>
                <c:pt idx="4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6A-4A9F-94F0-FB1628943C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5-fold cross-validation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Age rule</c:v>
                </c:pt>
                <c:pt idx="1">
                  <c:v>Sensor rule</c:v>
                </c:pt>
                <c:pt idx="2">
                  <c:v>Logistic Reg.</c:v>
                </c:pt>
                <c:pt idx="3">
                  <c:v>Random Forest</c:v>
                </c:pt>
                <c:pt idx="4">
                  <c:v>XGBoost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0.53</c:v>
                </c:pt>
                <c:pt idx="1">
                  <c:v>0.91</c:v>
                </c:pt>
                <c:pt idx="2">
                  <c:v>0.96</c:v>
                </c:pt>
                <c:pt idx="3">
                  <c:v>0.95</c:v>
                </c:pt>
                <c:pt idx="4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6A-4A9F-94F0-FB1628943C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A1A1A"/>
                </a:solidFill>
                <a:latin typeface="+mn-lt"/>
              </a:rPr>
              <a:t>PR-AUC on 78 held-out FD002 engines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9D-4435-A26F-F16B2F5C1A2A}"/>
              </c:ext>
            </c:extLst>
          </c:dPt>
          <c:dPt>
            <c:idx val="1"/>
            <c:invertIfNegative val="0"/>
            <c:bubble3D val="0"/>
            <c:spPr>
              <a:solidFill>
                <a:srgbClr val="2F6B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9D-4435-A26F-F16B2F5C1A2A}"/>
              </c:ext>
            </c:extLst>
          </c:dPt>
          <c:dPt>
            <c:idx val="2"/>
            <c:invertIfNegative val="0"/>
            <c:bubble3D val="0"/>
            <c:spPr>
              <a:solidFill>
                <a:srgbClr val="2F6B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9D-4435-A26F-F16B2F5C1A2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Default</c:v>
                </c:pt>
                <c:pt idx="1">
                  <c:v>Per-condition</c:v>
                </c:pt>
                <c:pt idx="2">
                  <c:v>Retrained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0.28000000000000003</c:v>
                </c:pt>
                <c:pt idx="1">
                  <c:v>0.94</c:v>
                </c:pt>
                <c:pt idx="2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9D-4435-A26F-F16B2F5C1A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54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Hello, everyone. Our project is </a:t>
            </a:r>
            <a:r>
              <a:rPr lang="en-GB" dirty="0"/>
              <a:t>called </a:t>
            </a:r>
            <a:r>
              <a:rPr lang="en-US" sz="1200" b="1" dirty="0">
                <a:solidFill>
                  <a:schemeClr val="tx1"/>
                </a:solidFill>
              </a:rPr>
              <a:t>Explainable and Drift-Aware Predictive Maintenance for IoT-Monitored Industrial Equipment. </a:t>
            </a:r>
            <a:r>
              <a:rPr lang="en-GB" dirty="0"/>
              <a:t>It is a</a:t>
            </a:r>
            <a:r>
              <a:rPr dirty="0"/>
              <a:t>bout </a:t>
            </a:r>
            <a:r>
              <a:rPr b="1" dirty="0"/>
              <a:t>predicting</a:t>
            </a:r>
            <a:r>
              <a:rPr dirty="0"/>
              <a:t> when a </a:t>
            </a:r>
            <a:r>
              <a:rPr b="1" dirty="0"/>
              <a:t>machine will break</a:t>
            </a:r>
            <a:r>
              <a:rPr dirty="0"/>
              <a:t>, before it </a:t>
            </a:r>
            <a:r>
              <a:rPr b="1" dirty="0"/>
              <a:t>actually happens</a:t>
            </a:r>
            <a:r>
              <a:rPr dirty="0"/>
              <a:t>. We use </a:t>
            </a:r>
            <a:r>
              <a:rPr b="1" dirty="0"/>
              <a:t>sensor readings </a:t>
            </a:r>
            <a:r>
              <a:rPr dirty="0"/>
              <a:t>to </a:t>
            </a:r>
            <a:r>
              <a:rPr b="1" dirty="0"/>
              <a:t>warn early</a:t>
            </a:r>
            <a:r>
              <a:rPr dirty="0"/>
              <a:t>, explain </a:t>
            </a:r>
            <a:r>
              <a:rPr b="1" dirty="0"/>
              <a:t>why the warning was raised</a:t>
            </a:r>
            <a:r>
              <a:rPr dirty="0"/>
              <a:t>, and </a:t>
            </a:r>
            <a:r>
              <a:rPr b="1" dirty="0"/>
              <a:t>stay accurate </a:t>
            </a:r>
            <a:r>
              <a:rPr dirty="0"/>
              <a:t>even when </a:t>
            </a:r>
            <a:r>
              <a:rPr b="1" dirty="0"/>
              <a:t>operating conditions change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There are three ways to look after a machine. </a:t>
            </a:r>
            <a:r>
              <a:rPr b="1" dirty="0"/>
              <a:t>We can fix it after it breaks</a:t>
            </a:r>
            <a:r>
              <a:rPr lang="en-GB" b="1" dirty="0"/>
              <a:t>.</a:t>
            </a:r>
            <a:r>
              <a:rPr b="1" dirty="0"/>
              <a:t> We can service it on a schedule. Or we can service it when the data says it is needed, </a:t>
            </a:r>
            <a:r>
              <a:rPr lang="en-GB" b="1" dirty="0"/>
              <a:t>which</a:t>
            </a:r>
            <a:r>
              <a:rPr b="1" dirty="0"/>
              <a:t> is our approach</a:t>
            </a:r>
            <a:r>
              <a:rPr dirty="0"/>
              <a:t>. Our goals are to warn about a failure up to </a:t>
            </a:r>
            <a:r>
              <a:rPr b="1" dirty="0"/>
              <a:t>30 cycles ahead</a:t>
            </a:r>
            <a:r>
              <a:rPr dirty="0"/>
              <a:t>, </a:t>
            </a:r>
            <a:r>
              <a:rPr b="1" dirty="0"/>
              <a:t>explain each warning</a:t>
            </a:r>
            <a:r>
              <a:rPr dirty="0"/>
              <a:t>, and keep working when </a:t>
            </a:r>
            <a:r>
              <a:rPr b="1" dirty="0"/>
              <a:t>conditions change</a:t>
            </a:r>
            <a:r>
              <a:rPr dirty="0"/>
              <a:t>. A cycle is one run of the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We use </a:t>
            </a:r>
            <a:r>
              <a:rPr b="1" dirty="0"/>
              <a:t>NASA's engine dataset</a:t>
            </a:r>
            <a:r>
              <a:rPr dirty="0"/>
              <a:t>, a widely used </a:t>
            </a:r>
            <a:r>
              <a:rPr b="1" dirty="0"/>
              <a:t>public benchmark for predictive maintenance research</a:t>
            </a:r>
            <a:r>
              <a:rPr dirty="0"/>
              <a:t>. Every engine runs until it fails, so we know how much life i</a:t>
            </a:r>
            <a:r>
              <a:rPr lang="en-US" dirty="0"/>
              <a:t>t had </a:t>
            </a:r>
            <a:r>
              <a:rPr dirty="0"/>
              <a:t>left. Each record has </a:t>
            </a:r>
            <a:r>
              <a:rPr b="1" dirty="0"/>
              <a:t>3 operating settings </a:t>
            </a:r>
            <a:r>
              <a:rPr dirty="0"/>
              <a:t>and </a:t>
            </a:r>
            <a:r>
              <a:rPr b="1" dirty="0"/>
              <a:t>21 sensor readings</a:t>
            </a:r>
            <a:r>
              <a:rPr dirty="0"/>
              <a:t>, and we keep the </a:t>
            </a:r>
            <a:r>
              <a:rPr b="1" dirty="0"/>
              <a:t>14 sensors that actually change</a:t>
            </a:r>
            <a:r>
              <a:rPr dirty="0"/>
              <a:t>. It has </a:t>
            </a:r>
            <a:r>
              <a:rPr b="1" dirty="0"/>
              <a:t>one operating condition </a:t>
            </a:r>
            <a:r>
              <a:rPr dirty="0"/>
              <a:t>for </a:t>
            </a:r>
            <a:r>
              <a:rPr b="1" dirty="0"/>
              <a:t>our main test </a:t>
            </a:r>
            <a:r>
              <a:rPr dirty="0"/>
              <a:t>and </a:t>
            </a:r>
            <a:r>
              <a:rPr b="1" dirty="0"/>
              <a:t>six for testing change.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chart shows </a:t>
            </a:r>
            <a:r>
              <a:rPr b="1" dirty="0"/>
              <a:t>three sensors for five engines</a:t>
            </a:r>
            <a:r>
              <a:rPr dirty="0"/>
              <a:t>. Time runs from </a:t>
            </a:r>
            <a:r>
              <a:rPr b="1" dirty="0"/>
              <a:t>left to right</a:t>
            </a:r>
            <a:r>
              <a:rPr dirty="0"/>
              <a:t>, </a:t>
            </a:r>
            <a:r>
              <a:rPr b="1" dirty="0"/>
              <a:t>towards failure. </a:t>
            </a:r>
            <a:r>
              <a:rPr dirty="0"/>
              <a:t>The readings move </a:t>
            </a:r>
            <a:r>
              <a:rPr b="1" dirty="0"/>
              <a:t>steadily up or down </a:t>
            </a:r>
            <a:r>
              <a:rPr dirty="0"/>
              <a:t>as the engine gets </a:t>
            </a:r>
            <a:r>
              <a:rPr b="1" dirty="0"/>
              <a:t>closer to failing</a:t>
            </a:r>
            <a:r>
              <a:rPr dirty="0"/>
              <a:t>. That </a:t>
            </a:r>
            <a:r>
              <a:rPr b="1" dirty="0"/>
              <a:t>steady pattern </a:t>
            </a:r>
            <a:r>
              <a:rPr dirty="0"/>
              <a:t>is what the model learns from. </a:t>
            </a:r>
            <a:r>
              <a:rPr b="1" dirty="0"/>
              <a:t>The readings are also noisy, so we smooth them with a short average before modelling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We turn this into one </a:t>
            </a:r>
            <a:r>
              <a:rPr b="1" dirty="0"/>
              <a:t>yes or no question</a:t>
            </a:r>
            <a:r>
              <a:rPr dirty="0"/>
              <a:t>: </a:t>
            </a:r>
            <a:r>
              <a:rPr b="1" dirty="0"/>
              <a:t>will this engine fail in the next 30 cycles</a:t>
            </a:r>
            <a:r>
              <a:rPr dirty="0"/>
              <a:t>? </a:t>
            </a:r>
            <a:r>
              <a:rPr b="1" dirty="0"/>
              <a:t>If yes, that cycle is an alert</a:t>
            </a:r>
            <a:r>
              <a:rPr lang="en-GB" dirty="0"/>
              <a:t>.</a:t>
            </a:r>
            <a:r>
              <a:rPr dirty="0"/>
              <a:t> For each cycle, the model sees the </a:t>
            </a:r>
            <a:r>
              <a:rPr b="1" dirty="0"/>
              <a:t>current sensor readings</a:t>
            </a:r>
            <a:r>
              <a:rPr dirty="0"/>
              <a:t>, their recent </a:t>
            </a:r>
            <a:r>
              <a:rPr b="1" dirty="0"/>
              <a:t>average and trend</a:t>
            </a:r>
            <a:r>
              <a:rPr dirty="0"/>
              <a:t>, and the </a:t>
            </a:r>
            <a:r>
              <a:rPr b="1" dirty="0"/>
              <a:t>engine's age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We tested in three ways</a:t>
            </a:r>
            <a:r>
              <a:rPr dirty="0"/>
              <a:t>. </a:t>
            </a:r>
            <a:r>
              <a:rPr b="1" dirty="0"/>
              <a:t>First</a:t>
            </a:r>
            <a:r>
              <a:rPr dirty="0"/>
              <a:t>, on </a:t>
            </a:r>
            <a:r>
              <a:rPr b="1" dirty="0"/>
              <a:t>15 engines the model never saw</a:t>
            </a:r>
            <a:r>
              <a:rPr dirty="0"/>
              <a:t>. </a:t>
            </a:r>
            <a:r>
              <a:rPr b="1" dirty="0"/>
              <a:t>Second</a:t>
            </a:r>
            <a:r>
              <a:rPr dirty="0"/>
              <a:t>, by repeating the </a:t>
            </a:r>
            <a:r>
              <a:rPr b="1" dirty="0"/>
              <a:t>test five times with different engines</a:t>
            </a:r>
            <a:r>
              <a:rPr dirty="0"/>
              <a:t>, which is more reliable when you have few engines. </a:t>
            </a:r>
            <a:r>
              <a:rPr b="1" dirty="0"/>
              <a:t>Third</a:t>
            </a:r>
            <a:r>
              <a:rPr dirty="0"/>
              <a:t>, on </a:t>
            </a:r>
            <a:r>
              <a:rPr b="1" dirty="0"/>
              <a:t>NASA's own test engines. </a:t>
            </a:r>
            <a:r>
              <a:rPr dirty="0"/>
              <a:t>Each engine is used either for </a:t>
            </a:r>
            <a:r>
              <a:rPr b="1" dirty="0"/>
              <a:t>training</a:t>
            </a:r>
            <a:r>
              <a:rPr dirty="0"/>
              <a:t> or for </a:t>
            </a:r>
            <a:r>
              <a:rPr b="1" dirty="0"/>
              <a:t>testing, never both</a:t>
            </a:r>
            <a:r>
              <a:rPr dirty="0"/>
              <a:t>, because its cycles look almost the same. We also fixed the alert threshold before the final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We compare </a:t>
            </a:r>
            <a:r>
              <a:rPr b="1" dirty="0"/>
              <a:t>five methods</a:t>
            </a:r>
            <a:r>
              <a:rPr dirty="0"/>
              <a:t>. </a:t>
            </a:r>
            <a:r>
              <a:rPr b="1" dirty="0"/>
              <a:t>Two are simple rules</a:t>
            </a:r>
            <a:r>
              <a:rPr dirty="0"/>
              <a:t>: one alerts </a:t>
            </a:r>
            <a:r>
              <a:rPr b="1" dirty="0"/>
              <a:t>when the engine is old</a:t>
            </a:r>
            <a:r>
              <a:rPr dirty="0"/>
              <a:t>, like </a:t>
            </a:r>
            <a:r>
              <a:rPr b="1" dirty="0"/>
              <a:t>scheduled service</a:t>
            </a:r>
            <a:r>
              <a:rPr dirty="0"/>
              <a:t>, and </a:t>
            </a:r>
            <a:r>
              <a:rPr b="1" dirty="0"/>
              <a:t>one alerts </a:t>
            </a:r>
            <a:r>
              <a:rPr dirty="0"/>
              <a:t>when a </a:t>
            </a:r>
            <a:r>
              <a:rPr b="1" dirty="0"/>
              <a:t>single key sensor is high</a:t>
            </a:r>
            <a:r>
              <a:rPr dirty="0"/>
              <a:t>. </a:t>
            </a:r>
            <a:r>
              <a:rPr b="1" dirty="0"/>
              <a:t>Three</a:t>
            </a:r>
            <a:r>
              <a:rPr dirty="0"/>
              <a:t> are </a:t>
            </a:r>
            <a:r>
              <a:rPr b="1" dirty="0"/>
              <a:t>machine learning models</a:t>
            </a:r>
            <a:r>
              <a:rPr dirty="0"/>
              <a:t>. </a:t>
            </a:r>
            <a:r>
              <a:rPr b="1" dirty="0"/>
              <a:t>Precision</a:t>
            </a:r>
            <a:r>
              <a:rPr dirty="0"/>
              <a:t> is how many of our </a:t>
            </a:r>
            <a:r>
              <a:rPr b="1" dirty="0"/>
              <a:t>alerts were right</a:t>
            </a:r>
            <a:r>
              <a:rPr dirty="0"/>
              <a:t>. </a:t>
            </a:r>
            <a:r>
              <a:rPr b="1" dirty="0"/>
              <a:t>Recall</a:t>
            </a:r>
            <a:r>
              <a:rPr dirty="0"/>
              <a:t> is how many real failures we caught. </a:t>
            </a:r>
            <a:r>
              <a:rPr b="1" dirty="0"/>
              <a:t>PR-AUC </a:t>
            </a:r>
            <a:r>
              <a:rPr dirty="0"/>
              <a:t>combines both into </a:t>
            </a:r>
            <a:r>
              <a:rPr b="1" dirty="0"/>
              <a:t>one score</a:t>
            </a:r>
            <a:r>
              <a:rPr dirty="0"/>
              <a:t>, and </a:t>
            </a:r>
            <a:r>
              <a:rPr b="1" dirty="0"/>
              <a:t>higher is better</a:t>
            </a:r>
            <a:r>
              <a:rPr dirty="0"/>
              <a:t>. A random guess scores about 0.15.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Higher is better</a:t>
            </a:r>
            <a:r>
              <a:rPr dirty="0"/>
              <a:t>. The </a:t>
            </a:r>
            <a:r>
              <a:rPr b="1" dirty="0"/>
              <a:t>three machine learning models</a:t>
            </a:r>
            <a:r>
              <a:rPr dirty="0"/>
              <a:t> </a:t>
            </a:r>
            <a:r>
              <a:rPr b="1" dirty="0"/>
              <a:t>score about 0.94 to 0.96</a:t>
            </a:r>
            <a:r>
              <a:rPr dirty="0"/>
              <a:t>. The best </a:t>
            </a:r>
            <a:r>
              <a:rPr b="1" dirty="0"/>
              <a:t>single-sensor rule </a:t>
            </a:r>
            <a:r>
              <a:rPr dirty="0"/>
              <a:t>scores about </a:t>
            </a:r>
            <a:r>
              <a:rPr b="1" dirty="0"/>
              <a:t>0.88 to 0.91</a:t>
            </a:r>
            <a:r>
              <a:rPr dirty="0"/>
              <a:t>, and the </a:t>
            </a:r>
            <a:r>
              <a:rPr b="1" dirty="0"/>
              <a:t>age rule </a:t>
            </a:r>
            <a:r>
              <a:rPr dirty="0"/>
              <a:t>scores much </a:t>
            </a:r>
            <a:r>
              <a:rPr b="1" dirty="0"/>
              <a:t>less</a:t>
            </a:r>
            <a:r>
              <a:rPr dirty="0"/>
              <a:t>, </a:t>
            </a:r>
            <a:r>
              <a:rPr b="1" dirty="0"/>
              <a:t>between 0.53 and 0.71</a:t>
            </a:r>
            <a:r>
              <a:rPr dirty="0"/>
              <a:t>. A simple model, </a:t>
            </a:r>
            <a:r>
              <a:rPr b="1" dirty="0"/>
              <a:t>Logistic Regression</a:t>
            </a:r>
            <a:r>
              <a:rPr dirty="0"/>
              <a:t>, </a:t>
            </a:r>
            <a:r>
              <a:rPr b="1" dirty="0"/>
              <a:t>does as well as the complex ones</a:t>
            </a:r>
            <a:r>
              <a:rPr dirty="0"/>
              <a:t>, so extra complexity adds little. Repeating the test gave the same ranking, so the result is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On this chart, </a:t>
            </a:r>
            <a:r>
              <a:rPr b="1" dirty="0"/>
              <a:t>each point is a different alert threshold</a:t>
            </a:r>
            <a:r>
              <a:rPr dirty="0"/>
              <a:t>. </a:t>
            </a:r>
            <a:r>
              <a:rPr b="1" dirty="0"/>
              <a:t>Higher means fewer false alarms</a:t>
            </a:r>
            <a:r>
              <a:rPr dirty="0"/>
              <a:t>, and </a:t>
            </a:r>
            <a:r>
              <a:rPr b="1" dirty="0"/>
              <a:t>further right means more failures caught</a:t>
            </a:r>
            <a:r>
              <a:rPr dirty="0"/>
              <a:t>. So </a:t>
            </a:r>
            <a:r>
              <a:rPr b="1" dirty="0"/>
              <a:t>further up and to the right is better</a:t>
            </a:r>
            <a:r>
              <a:rPr dirty="0"/>
              <a:t>. The </a:t>
            </a:r>
            <a:r>
              <a:rPr b="1" dirty="0"/>
              <a:t>machine learning </a:t>
            </a:r>
            <a:r>
              <a:rPr dirty="0"/>
              <a:t>lines are the </a:t>
            </a:r>
            <a:r>
              <a:rPr b="1" dirty="0"/>
              <a:t>highest</a:t>
            </a:r>
            <a:r>
              <a:rPr dirty="0"/>
              <a:t>, and the </a:t>
            </a:r>
            <a:r>
              <a:rPr b="1" dirty="0"/>
              <a:t>age rule </a:t>
            </a:r>
            <a:r>
              <a:rPr dirty="0"/>
              <a:t>is the </a:t>
            </a:r>
            <a:r>
              <a:rPr b="1" dirty="0"/>
              <a:t>lowest</a:t>
            </a:r>
            <a:r>
              <a:rPr dirty="0"/>
              <a:t>. We also checked NASA's own test engines, and the ranking was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table shows what the team would experience. The best model, </a:t>
            </a:r>
            <a:r>
              <a:rPr b="1" dirty="0" err="1"/>
              <a:t>XGBoost</a:t>
            </a:r>
            <a:r>
              <a:rPr b="1" dirty="0"/>
              <a:t>, caught 97 percent of the failing cycles and missed only 14 out of 465</a:t>
            </a:r>
            <a:r>
              <a:rPr dirty="0"/>
              <a:t>, with some false alarms. Its </a:t>
            </a:r>
            <a:r>
              <a:rPr b="1" dirty="0"/>
              <a:t>first warning came about 35 cycles before failure</a:t>
            </a:r>
            <a:r>
              <a:rPr dirty="0"/>
              <a:t>, and every test engine was warned. Using our assumed costs, ten for a miss and one for a </a:t>
            </a:r>
            <a:r>
              <a:rPr b="1" dirty="0"/>
              <a:t>false alarm</a:t>
            </a:r>
            <a:r>
              <a:rPr dirty="0"/>
              <a:t>, its total cost is under a </a:t>
            </a:r>
            <a:r>
              <a:rPr b="1" dirty="0"/>
              <a:t>third of the age rule's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shows why the model raised an alert. The </a:t>
            </a:r>
            <a:r>
              <a:rPr b="1" dirty="0"/>
              <a:t>left chart shows which inputs matter most</a:t>
            </a:r>
            <a:r>
              <a:rPr dirty="0"/>
              <a:t>: the averages of sensors </a:t>
            </a:r>
            <a:r>
              <a:rPr b="1" dirty="0"/>
              <a:t>15, 3, 21 and 11</a:t>
            </a:r>
            <a:r>
              <a:rPr dirty="0"/>
              <a:t>, and the engine's age. On the </a:t>
            </a:r>
            <a:r>
              <a:rPr b="1" dirty="0"/>
              <a:t>right</a:t>
            </a:r>
            <a:r>
              <a:rPr dirty="0"/>
              <a:t>, </a:t>
            </a:r>
            <a:r>
              <a:rPr b="1" dirty="0"/>
              <a:t>each dot is one cycle</a:t>
            </a:r>
            <a:r>
              <a:rPr dirty="0"/>
              <a:t>. Dots to the </a:t>
            </a:r>
            <a:r>
              <a:rPr b="1" dirty="0"/>
              <a:t>right</a:t>
            </a:r>
            <a:r>
              <a:rPr dirty="0"/>
              <a:t> mean </a:t>
            </a:r>
            <a:r>
              <a:rPr b="1" dirty="0"/>
              <a:t>higher risk</a:t>
            </a:r>
            <a:r>
              <a:rPr dirty="0"/>
              <a:t>, and </a:t>
            </a:r>
            <a:r>
              <a:rPr b="1" dirty="0"/>
              <a:t>high sensor values </a:t>
            </a:r>
            <a:r>
              <a:rPr dirty="0"/>
              <a:t>usually </a:t>
            </a:r>
            <a:r>
              <a:rPr b="1" dirty="0"/>
              <a:t>raise it</a:t>
            </a:r>
            <a:r>
              <a:rPr dirty="0"/>
              <a:t>. For example, engine </a:t>
            </a:r>
            <a:r>
              <a:rPr b="1" dirty="0"/>
              <a:t>13</a:t>
            </a:r>
            <a:r>
              <a:rPr dirty="0"/>
              <a:t> got a risk of about </a:t>
            </a:r>
            <a:r>
              <a:rPr b="1" dirty="0"/>
              <a:t>1.00,</a:t>
            </a:r>
            <a:r>
              <a:rPr dirty="0"/>
              <a:t> one cycle before it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Drift</a:t>
            </a:r>
            <a:r>
              <a:rPr dirty="0"/>
              <a:t> means the </a:t>
            </a:r>
            <a:r>
              <a:rPr b="1" dirty="0"/>
              <a:t>data changes </a:t>
            </a:r>
            <a:r>
              <a:rPr dirty="0"/>
              <a:t>after the </a:t>
            </a:r>
            <a:r>
              <a:rPr b="1" dirty="0"/>
              <a:t>model is deployed</a:t>
            </a:r>
            <a:r>
              <a:rPr dirty="0"/>
              <a:t>. When we moved to engines with </a:t>
            </a:r>
            <a:r>
              <a:rPr b="1" dirty="0"/>
              <a:t>six operating conditions</a:t>
            </a:r>
            <a:r>
              <a:rPr dirty="0"/>
              <a:t>, the </a:t>
            </a:r>
            <a:r>
              <a:rPr b="1" dirty="0"/>
              <a:t>sensor readings shifted</a:t>
            </a:r>
            <a:r>
              <a:rPr dirty="0"/>
              <a:t>, even for </a:t>
            </a:r>
            <a:r>
              <a:rPr b="1" dirty="0"/>
              <a:t>healthy engines</a:t>
            </a:r>
            <a:r>
              <a:rPr dirty="0"/>
              <a:t>. The model almost </a:t>
            </a:r>
            <a:r>
              <a:rPr b="1" dirty="0"/>
              <a:t>stopped raising alerts</a:t>
            </a:r>
            <a:r>
              <a:rPr dirty="0"/>
              <a:t>, and its recall </a:t>
            </a:r>
            <a:r>
              <a:rPr b="1" dirty="0"/>
              <a:t>fell to 0.04</a:t>
            </a:r>
            <a:r>
              <a:rPr dirty="0"/>
              <a:t>. We fixed this by </a:t>
            </a:r>
            <a:r>
              <a:rPr b="1" dirty="0"/>
              <a:t>grouping the data into the six conditions </a:t>
            </a:r>
            <a:r>
              <a:rPr dirty="0"/>
              <a:t>and </a:t>
            </a:r>
            <a:r>
              <a:rPr b="1" dirty="0"/>
              <a:t>scaling each one separately</a:t>
            </a:r>
            <a:r>
              <a:rPr dirty="0"/>
              <a:t>. The </a:t>
            </a:r>
            <a:r>
              <a:rPr b="1" dirty="0"/>
              <a:t>score went back </a:t>
            </a:r>
            <a:r>
              <a:rPr dirty="0"/>
              <a:t>to </a:t>
            </a:r>
            <a:r>
              <a:rPr b="1" dirty="0"/>
              <a:t>0.94 </a:t>
            </a:r>
            <a:r>
              <a:rPr dirty="0"/>
              <a:t>without retraining, and retraining gave 0.96.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To </a:t>
            </a:r>
            <a:r>
              <a:rPr b="1" dirty="0" err="1"/>
              <a:t>summarise</a:t>
            </a:r>
            <a:r>
              <a:rPr b="1" dirty="0"/>
              <a:t>. Machine learning beat the simple rules. </a:t>
            </a:r>
            <a:r>
              <a:rPr dirty="0"/>
              <a:t>Warnings came early, </a:t>
            </a:r>
            <a:r>
              <a:rPr b="1" dirty="0"/>
              <a:t>a median of 35 cycles ahead</a:t>
            </a:r>
            <a:r>
              <a:rPr dirty="0"/>
              <a:t>, and cost less. </a:t>
            </a:r>
            <a:r>
              <a:rPr b="1" dirty="0"/>
              <a:t>A simple model was enough</a:t>
            </a:r>
            <a:r>
              <a:rPr dirty="0"/>
              <a:t>. </a:t>
            </a:r>
            <a:r>
              <a:rPr b="1" dirty="0"/>
              <a:t>We can explain each alert</a:t>
            </a:r>
            <a:r>
              <a:rPr dirty="0"/>
              <a:t>. And </a:t>
            </a:r>
            <a:r>
              <a:rPr b="1" dirty="0"/>
              <a:t>drift was large but fixable</a:t>
            </a:r>
            <a:r>
              <a:rPr dirty="0"/>
              <a:t>. </a:t>
            </a:r>
            <a:r>
              <a:rPr b="1" dirty="0"/>
              <a:t>Predictions guide inspections</a:t>
            </a:r>
            <a:r>
              <a:rPr dirty="0"/>
              <a:t>, and </a:t>
            </a:r>
            <a:r>
              <a:rPr b="1" dirty="0"/>
              <a:t>engineers make the final decision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Our limits</a:t>
            </a:r>
            <a:r>
              <a:rPr dirty="0"/>
              <a:t>: the </a:t>
            </a:r>
            <a:r>
              <a:rPr b="1" dirty="0"/>
              <a:t>data is simulated</a:t>
            </a:r>
            <a:r>
              <a:rPr dirty="0"/>
              <a:t>, </a:t>
            </a:r>
            <a:r>
              <a:rPr b="1" dirty="0"/>
              <a:t>only 15 engines were held out for the main test</a:t>
            </a:r>
            <a:r>
              <a:rPr dirty="0"/>
              <a:t>, and some settings, like the </a:t>
            </a:r>
            <a:r>
              <a:rPr b="1" dirty="0"/>
              <a:t>30-cycle window and the costs</a:t>
            </a:r>
            <a:r>
              <a:rPr dirty="0"/>
              <a:t>, are our </a:t>
            </a:r>
            <a:r>
              <a:rPr b="1" dirty="0"/>
              <a:t>assumptions</a:t>
            </a:r>
            <a:r>
              <a:rPr dirty="0"/>
              <a:t>. Next, we want to try </a:t>
            </a:r>
            <a:r>
              <a:rPr b="1" dirty="0"/>
              <a:t>real transformer data </a:t>
            </a:r>
            <a:r>
              <a:rPr dirty="0"/>
              <a:t>and an </a:t>
            </a:r>
            <a:r>
              <a:rPr b="1" dirty="0"/>
              <a:t>LSTM</a:t>
            </a:r>
            <a:r>
              <a:rPr dirty="0"/>
              <a:t>, run the </a:t>
            </a:r>
            <a:r>
              <a:rPr b="1" dirty="0"/>
              <a:t>drift check automatically</a:t>
            </a:r>
            <a:r>
              <a:rPr dirty="0"/>
              <a:t>, and </a:t>
            </a:r>
            <a:r>
              <a:rPr b="1" dirty="0"/>
              <a:t>set the warning window </a:t>
            </a:r>
            <a:r>
              <a:rPr dirty="0"/>
              <a:t>with </a:t>
            </a:r>
            <a:r>
              <a:rPr b="1" dirty="0"/>
              <a:t>maintenance engineers</a:t>
            </a:r>
            <a:r>
              <a:rPr dirty="0"/>
              <a:t>. </a:t>
            </a:r>
            <a:r>
              <a:rPr b="1" dirty="0"/>
              <a:t>Thank you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0584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595959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058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Explainable and Drift-Aware Predictive Maintenance for IoT-Monitored Industrial Equipment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595959"/>
                </a:solidFill>
              </a:rPr>
              <a:t>A machine learning study on the NASA C-MAPSS turbofan engine dataset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95959"/>
                </a:solidFill>
              </a:rPr>
              <a:t>Course: </a:t>
            </a:r>
            <a:r>
              <a:rPr lang="en-US" sz="1400" b="1" dirty="0">
                <a:solidFill>
                  <a:srgbClr val="595959"/>
                </a:solidFill>
              </a:rPr>
              <a:t>Data Science (Prof. Simeon)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</a:rPr>
              <a:t>Group 2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Presenters: Shrestha Akshovya &amp; Nguyen Thien Phu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problem and our goals</a:t>
            </a:r>
            <a:endParaRPr lang="en-US" sz="2800" dirty="0"/>
          </a:p>
        </p:txBody>
      </p:sp>
      <p:graphicFrame>
        <p:nvGraphicFramePr>
          <p:cNvPr id="3" name="Approach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457200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Reactive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Fix the machine after it breaks.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Scheduled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Service it at fixed times, even if it is fine.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Predictive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Use sensor data and act only when needed. This is our approach.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200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Why it matters. </a:t>
            </a:r>
            <a:r>
              <a:rPr lang="en-US" sz="1400" dirty="0">
                <a:solidFill>
                  <a:schemeClr val="tx1"/>
                </a:solidFill>
              </a:rPr>
              <a:t>Fixing too late causes breakdowns. Servicing too early wastes money.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Cycle. </a:t>
            </a:r>
            <a:r>
              <a:rPr lang="en-US" sz="1400" dirty="0">
                <a:solidFill>
                  <a:schemeClr val="tx1"/>
                </a:solidFill>
              </a:rPr>
              <a:t>One run of the engine. We count time in cycles.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F"/>
                </a:solidFill>
              </a:rPr>
              <a:t>Our goals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5087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1. Predict. </a:t>
            </a:r>
            <a:r>
              <a:rPr lang="en-US" sz="1400" dirty="0">
                <a:solidFill>
                  <a:schemeClr val="tx1"/>
                </a:solidFill>
              </a:rPr>
              <a:t>Warn when an engine will fail within 30 cycles.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2. Explain. </a:t>
            </a:r>
            <a:r>
              <a:rPr lang="en-US" sz="1400" dirty="0">
                <a:solidFill>
                  <a:schemeClr val="tx1"/>
                </a:solidFill>
              </a:rPr>
              <a:t>Show which sensors caused each alert.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3. Adapt. </a:t>
            </a:r>
            <a:r>
              <a:rPr lang="en-US" sz="1400" dirty="0">
                <a:solidFill>
                  <a:schemeClr val="tx1"/>
                </a:solidFill>
              </a:rPr>
              <a:t>Keep working when operating conditions change.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dataset: NASA C-MAPSS</a:t>
            </a:r>
            <a:endParaRPr lang="en-US" sz="28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15214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Subset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Training engines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Training rows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Operating conditions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FD001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20,631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FD002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260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53,759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548640" y="242316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What it is. </a:t>
            </a:r>
            <a:r>
              <a:rPr lang="en-US" sz="1400" dirty="0">
                <a:solidFill>
                  <a:schemeClr val="tx1"/>
                </a:solidFill>
              </a:rPr>
              <a:t>A public NASA benchmark. Each row is one engine at one cycle, with 3 operating settings and 21 sensor readings.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Run to failure. </a:t>
            </a:r>
            <a:r>
              <a:rPr lang="en-US" sz="1400" dirty="0">
                <a:solidFill>
                  <a:schemeClr val="tx1"/>
                </a:solidFill>
              </a:rPr>
              <a:t>Every training engine runs until it fails, so we always know how many cycles it had left.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What we kept. </a:t>
            </a:r>
            <a:r>
              <a:rPr lang="en-US" sz="1400" dirty="0">
                <a:solidFill>
                  <a:schemeClr val="tx1"/>
                </a:solidFill>
              </a:rPr>
              <a:t>14 of the 21 sensors. The other 7 never change, so they tell us nothing.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How we use it. </a:t>
            </a:r>
            <a:r>
              <a:rPr lang="en-US" sz="1400" dirty="0">
                <a:solidFill>
                  <a:schemeClr val="tx1"/>
                </a:solidFill>
              </a:rPr>
              <a:t>FD001 is the main data. FD002 has six operating conditions and tests drift.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Important. </a:t>
            </a:r>
            <a:r>
              <a:rPr lang="en-US" sz="1400" dirty="0">
                <a:solidFill>
                  <a:schemeClr val="tx1"/>
                </a:solidFill>
              </a:rPr>
              <a:t>This is simulated engine data used as a stand-in. Results show the method, not real power grid performance.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Sensors change before failure</a:t>
            </a:r>
            <a:endParaRPr lang="en-US" sz="2800" dirty="0"/>
          </a:p>
        </p:txBody>
      </p:sp>
      <p:pic>
        <p:nvPicPr>
          <p:cNvPr id="3" name="Image 0" descr="Sensors 2, 11 and 12 for five engines plotted against cycles before fail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8046720" cy="2148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82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Sensors 2, 11 and 12 for five engines. Time runs left to right, towards failure.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What we see. </a:t>
            </a:r>
            <a:r>
              <a:rPr lang="en-US" sz="1400" dirty="0">
                <a:solidFill>
                  <a:schemeClr val="tx1"/>
                </a:solidFill>
              </a:rPr>
              <a:t>Each sensor drifts steadily as failure gets closer.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Why it matters. </a:t>
            </a:r>
            <a:r>
              <a:rPr lang="en-US" sz="1400" dirty="0">
                <a:solidFill>
                  <a:schemeClr val="tx1"/>
                </a:solidFill>
              </a:rPr>
              <a:t>A steady drift is a pattern a model can learn, so early warning is possible.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Challenge. </a:t>
            </a:r>
            <a:r>
              <a:rPr lang="en-US" sz="1400" dirty="0">
                <a:solidFill>
                  <a:schemeClr val="tx1"/>
                </a:solidFill>
              </a:rPr>
              <a:t>The readings are noisy, so we smooth them before modelling.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we predict and what the model sees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F"/>
                </a:solidFill>
              </a:rPr>
              <a:t>The question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6B4F"/>
                </a:solidFill>
              </a:rPr>
              <a:t>Will this engine fail in the next 30 cycles? </a:t>
            </a:r>
            <a:r>
              <a:rPr lang="en-US" sz="1500" dirty="0">
                <a:solidFill>
                  <a:schemeClr val="tx1"/>
                </a:solidFill>
              </a:rPr>
              <a:t>Yes means an alert (label 1).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Alerts are rare. </a:t>
            </a:r>
            <a:r>
              <a:rPr lang="en-US" sz="1400" dirty="0">
                <a:solidFill>
                  <a:schemeClr val="tx1"/>
                </a:solidFill>
              </a:rPr>
              <a:t>Only 15% of cycles are alerts. A model that never alerts would still be 85% right, so plain accuracy is misleading.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Remaining useful life. </a:t>
            </a:r>
            <a:r>
              <a:rPr lang="en-US" sz="1400" dirty="0">
                <a:solidFill>
                  <a:schemeClr val="tx1"/>
                </a:solidFill>
              </a:rPr>
              <a:t>The number of cycles left before failure.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F"/>
                </a:solidFill>
              </a:rPr>
              <a:t>The inputs: 43 per cycle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Current reading </a:t>
            </a:r>
            <a:r>
              <a:rPr lang="en-US" sz="1400" dirty="0">
                <a:solidFill>
                  <a:schemeClr val="tx1"/>
                </a:solidFill>
              </a:rPr>
              <a:t>of each of the 14 sensors.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10-cycle average </a:t>
            </a:r>
            <a:r>
              <a:rPr lang="en-US" sz="1400" dirty="0">
                <a:solidFill>
                  <a:schemeClr val="tx1"/>
                </a:solidFill>
              </a:rPr>
              <a:t>of each sensor, to smooth out noise.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10-cycle change </a:t>
            </a:r>
            <a:r>
              <a:rPr lang="en-US" sz="1400" dirty="0">
                <a:solidFill>
                  <a:schemeClr val="tx1"/>
                </a:solidFill>
              </a:rPr>
              <a:t>of each sensor, to show the trend.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Engine age </a:t>
            </a:r>
            <a:r>
              <a:rPr lang="en-US" sz="1400" dirty="0">
                <a:solidFill>
                  <a:schemeClr val="tx1"/>
                </a:solidFill>
              </a:rPr>
              <a:t>in cycles.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No peeking. </a:t>
            </a:r>
            <a:r>
              <a:rPr lang="en-US" sz="1400" dirty="0">
                <a:solidFill>
                  <a:schemeClr val="tx1"/>
                </a:solidFill>
              </a:rPr>
              <a:t>Sensors are scaled using training data only, and every input uses past data only.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How we tested</a:t>
            </a:r>
            <a:endParaRPr lang="en-US" sz="2800" dirty="0"/>
          </a:p>
        </p:txBody>
      </p:sp>
      <p:graphicFrame>
        <p:nvGraphicFramePr>
          <p:cNvPr id="7" name="Tes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874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Held-out engines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70 engines to train, 15 to tune, 15 to test.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Tests on engines the model never saw.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Cross-validation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Repeat the test 5 times with different engines.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More reliable with few engines.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NASA official test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NASA's own 100 test engines.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An independent check.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Split by engine. </a:t>
            </a:r>
            <a:r>
              <a:rPr lang="en-US" sz="1400" dirty="0">
                <a:solidFill>
                  <a:schemeClr val="tx1"/>
                </a:solidFill>
              </a:rPr>
              <a:t>Cycles from the same engine look almost identical. Mixing them between training and testing would give fake high scores.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Alert threshold. </a:t>
            </a:r>
            <a:r>
              <a:rPr lang="en-US" sz="1400" dirty="0">
                <a:solidFill>
                  <a:schemeClr val="tx1"/>
                </a:solidFill>
              </a:rPr>
              <a:t>We pick the score at which an alert is raised using the tuning engines, then keep it fixed for the final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Methods compared and key terms</a:t>
            </a:r>
            <a:endParaRPr lang="en-US" sz="2800" dirty="0"/>
          </a:p>
        </p:txBody>
      </p:sp>
      <p:graphicFrame>
        <p:nvGraphicFramePr>
          <p:cNvPr id="8" name="Metho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4663440" cy="29260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Age rule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Alert when the engine is old. Like scheduled service.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Sensor rule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Alert when one key sensor is high.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 simple model that draws one straight boundary.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Many decision trees that vote together.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Trees that fix each other's mistakes.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F"/>
                </a:solidFill>
              </a:rPr>
              <a:t>Key terms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463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Precision. </a:t>
            </a:r>
            <a:r>
              <a:rPr lang="en-US" sz="1400" dirty="0">
                <a:solidFill>
                  <a:schemeClr val="tx1"/>
                </a:solidFill>
              </a:rPr>
              <a:t>Of our alerts, how many were right.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Recall. </a:t>
            </a:r>
            <a:r>
              <a:rPr lang="en-US" sz="1400" dirty="0">
                <a:solidFill>
                  <a:schemeClr val="tx1"/>
                </a:solidFill>
              </a:rPr>
              <a:t>Of the real failures, how many we caught.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PR-AUC. </a:t>
            </a:r>
            <a:r>
              <a:rPr lang="en-US" sz="1400" dirty="0">
                <a:solidFill>
                  <a:schemeClr val="tx1"/>
                </a:solidFill>
              </a:rPr>
              <a:t>An overall score that combines the two. Higher is better. A random guess scores 0.15.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Cost. </a:t>
            </a:r>
            <a:r>
              <a:rPr lang="en-US" sz="1400" dirty="0">
                <a:solidFill>
                  <a:schemeClr val="tx1"/>
                </a:solidFill>
              </a:rPr>
              <a:t>10 per missed alert plus 1 per false alarm. This is our assumption.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Results: machine learning beats the rules</a:t>
            </a:r>
            <a:endParaRPr lang="en-US" sz="2800" dirty="0"/>
          </a:p>
        </p:txBody>
      </p:sp>
      <p:graphicFrame>
        <p:nvGraphicFramePr>
          <p:cNvPr id="3" name="Model comparison chart"/>
          <p:cNvGraphicFramePr/>
          <p:nvPr/>
        </p:nvGraphicFramePr>
        <p:xfrm>
          <a:off x="457200" y="10515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89320" y="114300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Machine learning wins. </a:t>
            </a:r>
            <a:r>
              <a:rPr lang="en-US" sz="1400" dirty="0">
                <a:solidFill>
                  <a:schemeClr val="tx1"/>
                </a:solidFill>
              </a:rPr>
              <a:t>0.94 to 0.96, against 0.88 to 0.91 for the sensor rule and 0.53 to 0.71 for the age rule.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Simple is enough. </a:t>
            </a:r>
            <a:r>
              <a:rPr lang="en-US" sz="1400" dirty="0">
                <a:solidFill>
                  <a:schemeClr val="tx1"/>
                </a:solidFill>
              </a:rPr>
              <a:t>Logistic Regression is as good as XGBoost.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Stable. </a:t>
            </a:r>
            <a:r>
              <a:rPr lang="en-US" sz="1400" dirty="0">
                <a:solidFill>
                  <a:schemeClr val="tx1"/>
                </a:solidFill>
              </a:rPr>
              <a:t>Cross-validation gives the same ranking. A random guess scores 0.15.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Precision and recall, and NASA's test</a:t>
            </a:r>
            <a:endParaRPr lang="en-US" sz="2800" dirty="0"/>
          </a:p>
        </p:txBody>
      </p:sp>
      <p:pic>
        <p:nvPicPr>
          <p:cNvPr id="3" name="Image 0" descr="Precision-recall curves for all methods on held-out engi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480560" cy="3136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Held-out engines. The legend shows each score.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109728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How to read it. </a:t>
            </a:r>
            <a:r>
              <a:rPr lang="en-US" sz="1400" dirty="0">
                <a:solidFill>
                  <a:schemeClr val="tx1"/>
                </a:solidFill>
              </a:rPr>
              <a:t>Each point is a different alert threshold. Further up and to the right is better.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What we see. </a:t>
            </a:r>
            <a:r>
              <a:rPr lang="en-US" sz="1400" dirty="0">
                <a:solidFill>
                  <a:schemeClr val="tx1"/>
                </a:solidFill>
              </a:rPr>
              <a:t>The machine learning curves stay highest. The age rule is lowest.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NASA's official test. </a:t>
            </a:r>
            <a:r>
              <a:rPr lang="en-US" sz="1400" dirty="0">
                <a:solidFill>
                  <a:schemeClr val="tx1"/>
                </a:solidFill>
              </a:rPr>
              <a:t>Same ranking: 0.94 to 0.95 for machine learning, 0.89 for the sensor rule and 0.51 for the age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Alerts, false alarms and cost</a:t>
            </a:r>
            <a:endParaRPr lang="en-US" sz="2800" dirty="0"/>
          </a:p>
        </p:txBody>
      </p:sp>
      <p:graphicFrame>
        <p:nvGraphicFramePr>
          <p:cNvPr id="11" name="Aler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32257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False alarms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Missed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Age rule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0.57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0.75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260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117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1,430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Sensor rule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0.71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0.83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159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79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949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0.75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0.93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147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487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0.63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0.97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270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400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0.64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0.97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257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397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No model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465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4,650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Early warning. </a:t>
            </a:r>
            <a:r>
              <a:rPr lang="en-US" sz="1400" dirty="0">
                <a:solidFill>
                  <a:schemeClr val="tx1"/>
                </a:solidFill>
              </a:rPr>
              <a:t>XGBoost's first alert came a median of 35 cycles before failure (range 22 to 113). All 15 test engines were warned.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How to read. </a:t>
            </a:r>
            <a:r>
              <a:rPr lang="en-US" sz="1400" dirty="0">
                <a:solidFill>
                  <a:schemeClr val="tx1"/>
                </a:solidFill>
              </a:rPr>
              <a:t>Counts are per cycle on 15 test engines (465 alert cycles). Cost = 10 per missed alert + 1 per false alarm (our assumption).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Takeaway. </a:t>
            </a:r>
            <a:r>
              <a:rPr lang="en-US" sz="1400" dirty="0">
                <a:solidFill>
                  <a:schemeClr val="tx1"/>
                </a:solidFill>
              </a:rPr>
              <a:t>XGBoost's cost is under a third of the age rule's.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Explaining the alerts</a:t>
            </a:r>
            <a:endParaRPr lang="en-US" sz="2800" dirty="0"/>
          </a:p>
        </p:txBody>
      </p:sp>
      <p:pic>
        <p:nvPicPr>
          <p:cNvPr id="3" name="Image 0" descr="SHAP feature importance bar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749040" cy="2569464"/>
          </a:xfrm>
          <a:prstGeom prst="rect">
            <a:avLst/>
          </a:prstGeom>
        </p:spPr>
      </p:pic>
      <p:pic>
        <p:nvPicPr>
          <p:cNvPr id="4" name="Image 1" descr="SHAP beeswarm p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840"/>
            <a:ext cx="3749040" cy="26883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840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What matters most. </a:t>
            </a:r>
            <a:r>
              <a:rPr lang="en-US" sz="1400" dirty="0">
                <a:solidFill>
                  <a:schemeClr val="tx1"/>
                </a:solidFill>
              </a:rPr>
              <a:t>SHAP shows what pushed each prediction. The 10-cycle averages of sensors 15, 3, 21 and 11, and engine age, matter most.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0" y="3840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Which way. </a:t>
            </a:r>
            <a:r>
              <a:rPr lang="en-US" sz="1400" dirty="0">
                <a:solidFill>
                  <a:schemeClr val="tx1"/>
                </a:solidFill>
              </a:rPr>
              <a:t>Dots to the right raise the risk, and high values usually do. Example: engine 13, cycle 162, risk 1.00, one cycle before failure.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Drift: when conditions change</a:t>
            </a:r>
            <a:endParaRPr lang="en-US" sz="2800" dirty="0"/>
          </a:p>
        </p:txBody>
      </p:sp>
      <p:pic>
        <p:nvPicPr>
          <p:cNvPr id="3" name="Image 0" descr="PR-AUC with no drift, naive on FD002, and regime-normalised on FD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023360" cy="19568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FD001 model, tested on all 260 FD002 engines.</a:t>
            </a:r>
            <a:endParaRPr lang="en-US" sz="1200" dirty="0"/>
          </a:p>
        </p:txBody>
      </p:sp>
      <p:graphicFrame>
        <p:nvGraphicFramePr>
          <p:cNvPr id="5" name="Drift fix chart"/>
          <p:cNvGraphicFramePr/>
          <p:nvPr/>
        </p:nvGraphicFramePr>
        <p:xfrm>
          <a:off x="4663440" y="960120"/>
          <a:ext cx="4023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Drift. </a:t>
            </a:r>
            <a:r>
              <a:rPr lang="en-US" sz="1400" dirty="0">
                <a:solidFill>
                  <a:schemeClr val="tx1"/>
                </a:solidFill>
              </a:rPr>
              <a:t>The data changes after deployment. FD002 has six operating conditions instead of one, so sensors shift even for healthy engines (shift score 0.80 out of 1).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Damage. </a:t>
            </a:r>
            <a:r>
              <a:rPr lang="en-US" sz="1400" dirty="0">
                <a:solidFill>
                  <a:schemeClr val="tx1"/>
                </a:solidFill>
              </a:rPr>
              <a:t>Recall fell to 0.04, so the FD001 model almost never raised an alert.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Fix. </a:t>
            </a:r>
            <a:r>
              <a:rPr lang="en-US" sz="1400" dirty="0">
                <a:solidFill>
                  <a:schemeClr val="tx1"/>
                </a:solidFill>
              </a:rPr>
              <a:t>Scale each condition separately. The shift falls to 0.04 and PR-AUC returns to 0.94 without retraining. Retraining gives 0.96.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Findings and 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</a:rPr>
              <a:t>1. Machine learning beats the rules. </a:t>
            </a:r>
            <a:r>
              <a:rPr lang="en-US" sz="1600" dirty="0">
                <a:solidFill>
                  <a:schemeClr val="tx1"/>
                </a:solidFill>
              </a:rPr>
              <a:t>Scores of 0.94 to 0.96, against 0.88 to 0.91 for the best sensor rule.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</a:rPr>
              <a:t>2. Warnings come early and cost less. </a:t>
            </a:r>
            <a:r>
              <a:rPr lang="en-US" sz="1600" dirty="0">
                <a:solidFill>
                  <a:schemeClr val="tx1"/>
                </a:solidFill>
              </a:rPr>
              <a:t>A median of 35 cycles of warning, at under a third of the age rule's cost.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</a:rPr>
              <a:t>3. Simple models are enough. </a:t>
            </a:r>
            <a:r>
              <a:rPr lang="en-US" sz="1600" dirty="0">
                <a:solidFill>
                  <a:schemeClr val="tx1"/>
                </a:solidFill>
              </a:rPr>
              <a:t>Logistic Regression matched XGBoost.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</a:rPr>
              <a:t>4. Alerts can be explained. </a:t>
            </a:r>
            <a:r>
              <a:rPr lang="en-US" sz="1600" dirty="0">
                <a:solidFill>
                  <a:schemeClr val="tx1"/>
                </a:solidFill>
              </a:rPr>
              <a:t>Sensors 15, 3, 21, 11 and engine age drive the predictions.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</a:rPr>
              <a:t>5. Drift is large but fixable. </a:t>
            </a:r>
            <a:r>
              <a:rPr lang="en-US" sz="1600" dirty="0">
                <a:solidFill>
                  <a:schemeClr val="tx1"/>
                </a:solidFill>
              </a:rPr>
              <a:t>Recall fell to 0.04 under new conditions and returned to 0.94 after scaling each condition separately.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Predictions guide inspections. Engineers make the final decision.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Limitations and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F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Simulated data. </a:t>
            </a:r>
            <a:r>
              <a:rPr lang="en-US" sz="1400" dirty="0">
                <a:solidFill>
                  <a:schemeClr val="tx1"/>
                </a:solidFill>
              </a:rPr>
              <a:t>These are engines, not grid equipment.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Small test. </a:t>
            </a:r>
            <a:r>
              <a:rPr lang="en-US" sz="1400" dirty="0">
                <a:solidFill>
                  <a:schemeClr val="tx1"/>
                </a:solidFill>
              </a:rPr>
              <a:t>Only 15 held-out engines in the main test.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Assumptions. </a:t>
            </a:r>
            <a:r>
              <a:rPr lang="en-US" sz="1400" dirty="0">
                <a:solidFill>
                  <a:schemeClr val="tx1"/>
                </a:solidFill>
              </a:rPr>
              <a:t>The 30-cycle window and the cost ratio are our choices.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Scope. </a:t>
            </a:r>
            <a:r>
              <a:rPr lang="en-US" sz="1400" dirty="0">
                <a:solidFill>
                  <a:schemeClr val="tx1"/>
                </a:solidFill>
              </a:rPr>
              <a:t>One kind of drift and no LSTM.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F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Real data. </a:t>
            </a:r>
            <a:r>
              <a:rPr lang="en-US" sz="1400" dirty="0">
                <a:solidFill>
                  <a:schemeClr val="tx1"/>
                </a:solidFill>
              </a:rPr>
              <a:t>Repeat this on real transformer sensor data.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LSTM. </a:t>
            </a:r>
            <a:r>
              <a:rPr lang="en-US" sz="1400" dirty="0">
                <a:solidFill>
                  <a:schemeClr val="tx1"/>
                </a:solidFill>
              </a:rPr>
              <a:t>Compare a sequence model.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Drift check. </a:t>
            </a:r>
            <a:r>
              <a:rPr lang="en-US" sz="1400" dirty="0">
                <a:solidFill>
                  <a:schemeClr val="tx1"/>
                </a:solidFill>
              </a:rPr>
              <a:t>Run it automatically and flag when to retrain.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</a:rPr>
              <a:t>Experts. </a:t>
            </a:r>
            <a:r>
              <a:rPr lang="en-US" sz="1400" dirty="0">
                <a:solidFill>
                  <a:schemeClr val="tx1"/>
                </a:solidFill>
              </a:rPr>
              <a:t>Set the window and costs with maintenance engineers.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 Serif">
  <a:themeElements>
    <a:clrScheme name="Plain Serif">
      <a:dk1>
        <a:srgbClr val="1A1A1A"/>
      </a:dk1>
      <a:lt1>
        <a:srgbClr val="FFFFFF"/>
      </a:lt1>
      <a:dk2>
        <a:srgbClr val="2F6B4F"/>
      </a:dk2>
      <a:lt2>
        <a:srgbClr val="F4F4F2"/>
      </a:lt2>
      <a:accent1>
        <a:srgbClr val="2F6B4F"/>
      </a:accent1>
      <a:accent2>
        <a:srgbClr val="8C8C8C"/>
      </a:accent2>
      <a:accent3>
        <a:srgbClr val="5E5E5E"/>
      </a:accent3>
      <a:accent4>
        <a:srgbClr val="7A8450"/>
      </a:accent4>
      <a:accent5>
        <a:srgbClr val="7A5230"/>
      </a:accent5>
      <a:accent6>
        <a:srgbClr val="B0B0B0"/>
      </a:accent6>
      <a:hlink>
        <a:srgbClr val="2F6B4F"/>
      </a:hlink>
      <a:folHlink>
        <a:srgbClr val="8C8C8C"/>
      </a:folHlink>
    </a:clrScheme>
    <a:fontScheme name="Plain Serif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92</TotalTime>
  <Words>2371</Words>
  <Application>Microsoft Office PowerPoint</Application>
  <PresentationFormat>On-screen Show (16:9)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Plain Serif</vt:lpstr>
      <vt:lpstr>Explainable and Drift-Aware Predictive Maintenance for IoT-Monitored Industrial Equipment</vt:lpstr>
      <vt:lpstr>The problem and our goals</vt:lpstr>
      <vt:lpstr>The dataset: NASA C-MAPSS</vt:lpstr>
      <vt:lpstr>Sensors change before failure</vt:lpstr>
      <vt:lpstr>What we predict and what the model sees</vt:lpstr>
      <vt:lpstr>How we tested</vt:lpstr>
      <vt:lpstr>Methods compared and key terms</vt:lpstr>
      <vt:lpstr>Results: machine learning beats the rules</vt:lpstr>
      <vt:lpstr>Precision and recall, and NASA's test</vt:lpstr>
      <vt:lpstr>Alerts, false alarms and cost</vt:lpstr>
      <vt:lpstr>Explaining the alerts</vt:lpstr>
      <vt:lpstr>Drift: when conditions change</vt:lpstr>
      <vt:lpstr>Findings and conclusion</vt:lpstr>
      <vt:lpstr>Limitations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and Drift-Aware Predictive Maintenance (C-MAPSS)</dc:title>
  <dc:subject>PptxGenJS Presentation</dc:subject>
  <dc:creator>PptxGenJS</dc:creator>
  <cp:lastModifiedBy>슈레스타악쇼비야</cp:lastModifiedBy>
  <cp:revision>9</cp:revision>
  <dcterms:created xsi:type="dcterms:W3CDTF">2026-10-25T18:54:46Z</dcterms:created>
  <dcterms:modified xsi:type="dcterms:W3CDTF">2026-10-25T20:41:31Z</dcterms:modified>
</cp:coreProperties>
</file>